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0FB31-0375-E123-D1F1-6BB514345E9B}" v="18" dt="2026-04-01T15:31:42.431"/>
    <p1510:client id="{C34059D6-2A35-E3BC-E91A-631267BBCD51}" v="39" dt="2026-04-01T14:42:19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nuel Kwofie, Mr" userId="S::emmanuel.kwofie@mcgill.ca::60dd6975-1893-492f-8f46-d45b20a158fb" providerId="AD" clId="Web-{C34059D6-2A35-E3BC-E91A-631267BBCD51}"/>
    <pc:docChg chg="modSld">
      <pc:chgData name="Emmanuel Kwofie, Mr" userId="S::emmanuel.kwofie@mcgill.ca::60dd6975-1893-492f-8f46-d45b20a158fb" providerId="AD" clId="Web-{C34059D6-2A35-E3BC-E91A-631267BBCD51}" dt="2026-04-01T14:42:19.746" v="38" actId="20577"/>
      <pc:docMkLst>
        <pc:docMk/>
      </pc:docMkLst>
      <pc:sldChg chg="modSp">
        <pc:chgData name="Emmanuel Kwofie, Mr" userId="S::emmanuel.kwofie@mcgill.ca::60dd6975-1893-492f-8f46-d45b20a158fb" providerId="AD" clId="Web-{C34059D6-2A35-E3BC-E91A-631267BBCD51}" dt="2026-04-01T14:25:09.711" v="20" actId="20577"/>
        <pc:sldMkLst>
          <pc:docMk/>
          <pc:sldMk cId="0" sldId="256"/>
        </pc:sldMkLst>
        <pc:spChg chg="mod">
          <ac:chgData name="Emmanuel Kwofie, Mr" userId="S::emmanuel.kwofie@mcgill.ca::60dd6975-1893-492f-8f46-d45b20a158fb" providerId="AD" clId="Web-{C34059D6-2A35-E3BC-E91A-631267BBCD51}" dt="2026-04-01T14:20:53.163" v="1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Emmanuel Kwofie, Mr" userId="S::emmanuel.kwofie@mcgill.ca::60dd6975-1893-492f-8f46-d45b20a158fb" providerId="AD" clId="Web-{C34059D6-2A35-E3BC-E91A-631267BBCD51}" dt="2026-04-01T14:25:09.711" v="20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Emmanuel Kwofie, Mr" userId="S::emmanuel.kwofie@mcgill.ca::60dd6975-1893-492f-8f46-d45b20a158fb" providerId="AD" clId="Web-{C34059D6-2A35-E3BC-E91A-631267BBCD51}" dt="2026-04-01T14:27:29.180" v="29" actId="20577"/>
        <pc:sldMkLst>
          <pc:docMk/>
          <pc:sldMk cId="0" sldId="259"/>
        </pc:sldMkLst>
        <pc:spChg chg="mod">
          <ac:chgData name="Emmanuel Kwofie, Mr" userId="S::emmanuel.kwofie@mcgill.ca::60dd6975-1893-492f-8f46-d45b20a158fb" providerId="AD" clId="Web-{C34059D6-2A35-E3BC-E91A-631267BBCD51}" dt="2026-04-01T14:27:14.242" v="27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Emmanuel Kwofie, Mr" userId="S::emmanuel.kwofie@mcgill.ca::60dd6975-1893-492f-8f46-d45b20a158fb" providerId="AD" clId="Web-{C34059D6-2A35-E3BC-E91A-631267BBCD51}" dt="2026-04-01T14:26:56.477" v="26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Emmanuel Kwofie, Mr" userId="S::emmanuel.kwofie@mcgill.ca::60dd6975-1893-492f-8f46-d45b20a158fb" providerId="AD" clId="Web-{C34059D6-2A35-E3BC-E91A-631267BBCD51}" dt="2026-04-01T14:27:22.680" v="28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Emmanuel Kwofie, Mr" userId="S::emmanuel.kwofie@mcgill.ca::60dd6975-1893-492f-8f46-d45b20a158fb" providerId="AD" clId="Web-{C34059D6-2A35-E3BC-E91A-631267BBCD51}" dt="2026-04-01T14:27:29.180" v="29" actId="20577"/>
          <ac:spMkLst>
            <pc:docMk/>
            <pc:sldMk cId="0" sldId="259"/>
            <ac:spMk id="22" creationId="{00000000-0000-0000-0000-000000000000}"/>
          </ac:spMkLst>
        </pc:spChg>
      </pc:sldChg>
      <pc:sldChg chg="modSp">
        <pc:chgData name="Emmanuel Kwofie, Mr" userId="S::emmanuel.kwofie@mcgill.ca::60dd6975-1893-492f-8f46-d45b20a158fb" providerId="AD" clId="Web-{C34059D6-2A35-E3BC-E91A-631267BBCD51}" dt="2026-04-01T14:29:54.196" v="36" actId="14100"/>
        <pc:sldMkLst>
          <pc:docMk/>
          <pc:sldMk cId="0" sldId="260"/>
        </pc:sldMkLst>
        <pc:spChg chg="mod">
          <ac:chgData name="Emmanuel Kwofie, Mr" userId="S::emmanuel.kwofie@mcgill.ca::60dd6975-1893-492f-8f46-d45b20a158fb" providerId="AD" clId="Web-{C34059D6-2A35-E3BC-E91A-631267BBCD51}" dt="2026-04-01T14:27:55.992" v="30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Emmanuel Kwofie, Mr" userId="S::emmanuel.kwofie@mcgill.ca::60dd6975-1893-492f-8f46-d45b20a158fb" providerId="AD" clId="Web-{C34059D6-2A35-E3BC-E91A-631267BBCD51}" dt="2026-04-01T14:29:54.196" v="36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Emmanuel Kwofie, Mr" userId="S::emmanuel.kwofie@mcgill.ca::60dd6975-1893-492f-8f46-d45b20a158fb" providerId="AD" clId="Web-{C34059D6-2A35-E3BC-E91A-631267BBCD51}" dt="2026-04-01T14:29:23.805" v="34" actId="1076"/>
          <ac:spMkLst>
            <pc:docMk/>
            <pc:sldMk cId="0" sldId="260"/>
            <ac:spMk id="16" creationId="{00000000-0000-0000-0000-000000000000}"/>
          </ac:spMkLst>
        </pc:spChg>
      </pc:sldChg>
      <pc:sldChg chg="modSp">
        <pc:chgData name="Emmanuel Kwofie, Mr" userId="S::emmanuel.kwofie@mcgill.ca::60dd6975-1893-492f-8f46-d45b20a158fb" providerId="AD" clId="Web-{C34059D6-2A35-E3BC-E91A-631267BBCD51}" dt="2026-04-01T14:42:19.746" v="38" actId="20577"/>
        <pc:sldMkLst>
          <pc:docMk/>
          <pc:sldMk cId="0" sldId="267"/>
        </pc:sldMkLst>
        <pc:spChg chg="mod">
          <ac:chgData name="Emmanuel Kwofie, Mr" userId="S::emmanuel.kwofie@mcgill.ca::60dd6975-1893-492f-8f46-d45b20a158fb" providerId="AD" clId="Web-{C34059D6-2A35-E3BC-E91A-631267BBCD51}" dt="2026-04-01T14:42:19.746" v="38" actId="20577"/>
          <ac:spMkLst>
            <pc:docMk/>
            <pc:sldMk cId="0" sldId="267"/>
            <ac:spMk id="24" creationId="{00000000-0000-0000-0000-000000000000}"/>
          </ac:spMkLst>
        </pc:spChg>
      </pc:sldChg>
    </pc:docChg>
  </pc:docChgLst>
  <pc:docChgLst>
    <pc:chgData name="Emmanuel Kwofie, Mr" userId="S::emmanuel.kwofie@mcgill.ca::60dd6975-1893-492f-8f46-d45b20a158fb" providerId="AD" clId="Web-{3260FB31-0375-E123-D1F1-6BB514345E9B}"/>
    <pc:docChg chg="modSld">
      <pc:chgData name="Emmanuel Kwofie, Mr" userId="S::emmanuel.kwofie@mcgill.ca::60dd6975-1893-492f-8f46-d45b20a158fb" providerId="AD" clId="Web-{3260FB31-0375-E123-D1F1-6BB514345E9B}" dt="2026-04-01T15:31:42.431" v="17" actId="1076"/>
      <pc:docMkLst>
        <pc:docMk/>
      </pc:docMkLst>
      <pc:sldChg chg="modSp">
        <pc:chgData name="Emmanuel Kwofie, Mr" userId="S::emmanuel.kwofie@mcgill.ca::60dd6975-1893-492f-8f46-d45b20a158fb" providerId="AD" clId="Web-{3260FB31-0375-E123-D1F1-6BB514345E9B}" dt="2026-04-01T15:31:42.431" v="17" actId="1076"/>
        <pc:sldMkLst>
          <pc:docMk/>
          <pc:sldMk cId="0" sldId="267"/>
        </pc:sldMkLst>
        <pc:spChg chg="mod">
          <ac:chgData name="Emmanuel Kwofie, Mr" userId="S::emmanuel.kwofie@mcgill.ca::60dd6975-1893-492f-8f46-d45b20a158fb" providerId="AD" clId="Web-{3260FB31-0375-E123-D1F1-6BB514345E9B}" dt="2026-04-01T15:31:18.196" v="15" actId="14100"/>
          <ac:spMkLst>
            <pc:docMk/>
            <pc:sldMk cId="0" sldId="267"/>
            <ac:spMk id="35" creationId="{00000000-0000-0000-0000-000000000000}"/>
          </ac:spMkLst>
        </pc:spChg>
        <pc:spChg chg="mod">
          <ac:chgData name="Emmanuel Kwofie, Mr" userId="S::emmanuel.kwofie@mcgill.ca::60dd6975-1893-492f-8f46-d45b20a158fb" providerId="AD" clId="Web-{3260FB31-0375-E123-D1F1-6BB514345E9B}" dt="2026-04-01T15:31:42.431" v="17" actId="1076"/>
          <ac:spMkLst>
            <pc:docMk/>
            <pc:sldMk cId="0" sldId="267"/>
            <ac:spMk id="36" creationId="{00000000-0000-0000-0000-000000000000}"/>
          </ac:spMkLst>
        </pc:spChg>
        <pc:spChg chg="mod">
          <ac:chgData name="Emmanuel Kwofie, Mr" userId="S::emmanuel.kwofie@mcgill.ca::60dd6975-1893-492f-8f46-d45b20a158fb" providerId="AD" clId="Web-{3260FB31-0375-E123-D1F1-6BB514345E9B}" dt="2026-04-01T15:24:06.082" v="11" actId="20577"/>
          <ac:spMkLst>
            <pc:docMk/>
            <pc:sldMk cId="0" sldId="267"/>
            <ac:spMk id="37" creationId="{00000000-0000-0000-0000-000000000000}"/>
          </ac:spMkLst>
        </pc:spChg>
        <pc:spChg chg="mod">
          <ac:chgData name="Emmanuel Kwofie, Mr" userId="S::emmanuel.kwofie@mcgill.ca::60dd6975-1893-492f-8f46-d45b20a158fb" providerId="AD" clId="Web-{3260FB31-0375-E123-D1F1-6BB514345E9B}" dt="2026-04-01T15:31:26.025" v="16" actId="1076"/>
          <ac:spMkLst>
            <pc:docMk/>
            <pc:sldMk cId="0" sldId="267"/>
            <ac:spMk id="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CCC7B-F2CB-40C8-A5F7-E357B4F240CD}" type="datetimeFigureOut"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D6136-9284-4AE4-A8CA-A91EDD70AA2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14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3200400" cy="4206240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97280"/>
            <a:ext cx="2286000" cy="2286000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0080"/>
            <a:ext cx="2926080" cy="3108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00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C2B20"/>
                </a:solidFill>
              </a:rPr>
              <a:t>REPUBLIC OF RWANDA  |  MINAGRI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5669280" cy="192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Systems</a:t>
            </a:r>
            <a:endParaRPr lang="en-US" sz="440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Financial Intelligence</a:t>
            </a:r>
            <a:endParaRPr lang="en-US" sz="44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52B788"/>
                </a:solidFill>
              </a:rPr>
              <a:t>FSFI Platform — Evidence for Smarter Food System Investment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530352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50">
                <a:solidFill>
                  <a:srgbClr val="6B8F72"/>
                </a:solidFill>
              </a:rPr>
              <a:t>Presented by IFPRI &amp; McGill University  | IFAD Grant through Akademiya2063  | April 2026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2743200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4297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  rwanda.fsfvi.ai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</a:rPr>
              <a:t>TODAY'S AGENDA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4A017"/>
                </a:solidFill>
              </a:rPr>
              <a:t>01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932688" y="120700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4731"/>
                </a:solidFill>
              </a:rPr>
              <a:t>Rwanda's Food System Challenge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932688" y="1645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8F72"/>
                </a:solidFill>
              </a:rPr>
              <a:t>Why financial intelligence matters now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4A017"/>
                </a:solidFill>
              </a:rPr>
              <a:t>02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5413248" y="120700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4731"/>
                </a:solidFill>
              </a:rPr>
              <a:t>FSFI Framework &amp; Methodology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5413248" y="1645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8F72"/>
                </a:solidFill>
              </a:rPr>
              <a:t>How the index is built and what it measures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59152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5915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4A017"/>
                </a:solidFill>
              </a:rPr>
              <a:t>03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932688" y="24688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4731"/>
                </a:solidFill>
              </a:rPr>
              <a:t>The FSFI Platform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932688" y="290779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8F72"/>
                </a:solidFill>
              </a:rPr>
              <a:t>Live dashboard, 8 components, 37 indicators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846320" y="2359152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359152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35915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4A017"/>
                </a:solidFill>
              </a:rPr>
              <a:t>04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5413248" y="24688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4731"/>
                </a:solidFill>
              </a:rPr>
              <a:t>PSTA-5 Alignment &amp; Budget Optimization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413248" y="290779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8F72"/>
                </a:solidFill>
              </a:rPr>
              <a:t>Connecting spending to national goals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21024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21024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4A017"/>
                </a:solidFill>
              </a:rPr>
              <a:t>05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932688" y="37307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4731"/>
                </a:solidFill>
              </a:rPr>
              <a:t>Strategic Planning &amp; MTEF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932688" y="416966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8F72"/>
                </a:solidFill>
              </a:rPr>
              <a:t>Evidence for multi-year budget decisions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4846320" y="3621024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21024"/>
            <a:ext cx="502920" cy="10515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21024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4A017"/>
                </a:solidFill>
              </a:rPr>
              <a:t>06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5413248" y="37307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4731"/>
                </a:solidFill>
              </a:rPr>
              <a:t>Research Partnership &amp; Presenters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5413248" y="416966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8F72"/>
                </a:solidFill>
              </a:rPr>
              <a:t>IFPRI · McGill University · Akademiya2063</a:t>
            </a:r>
            <a:endParaRPr lang="en-US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</a:rPr>
              <a:t>THE CHALLENGE: SPENDING WITHOUT A MAP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C2B20"/>
                </a:solidFill>
              </a:rPr>
              <a:t>Rwanda's food system budgets must cover many competing priorities. Yet until now, leaders have lacked a rigorous, data-driven tool to answer three critical questions: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5029200" cy="749808"/>
          </a:xfrm>
          <a:prstGeom prst="rect">
            <a:avLst/>
          </a:prstGeom>
          <a:solidFill>
            <a:srgbClr val="EAF4ED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029968"/>
            <a:ext cx="438912" cy="43891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2B20"/>
                </a:solidFill>
              </a:rPr>
              <a:t>Q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960120" y="1947672"/>
            <a:ext cx="4315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4731"/>
                </a:solidFill>
              </a:rPr>
              <a:t>Where should the next franc go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A4731"/>
                </a:solidFill>
              </a:rPr>
              <a:t>to improve the overall system?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65760" y="2770632"/>
            <a:ext cx="5029200" cy="749808"/>
          </a:xfrm>
          <a:prstGeom prst="rect">
            <a:avLst/>
          </a:prstGeom>
          <a:solidFill>
            <a:srgbClr val="EAF4ED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926080"/>
            <a:ext cx="438912" cy="43891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2B20"/>
                </a:solidFill>
              </a:rPr>
              <a:t>Q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60120" y="2843784"/>
            <a:ext cx="4315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4731"/>
                </a:solidFill>
              </a:rPr>
              <a:t>How do current allocations align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A4731"/>
                </a:solidFill>
              </a:rPr>
              <a:t>with PSTA-5 national goals?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5029200" cy="749808"/>
          </a:xfrm>
          <a:prstGeom prst="rect">
            <a:avLst/>
          </a:prstGeom>
          <a:solidFill>
            <a:srgbClr val="EAF4ED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822192"/>
            <a:ext cx="438912" cy="43891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2B20"/>
                </a:solidFill>
              </a:rPr>
              <a:t>Q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960120" y="3739896"/>
            <a:ext cx="4315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4731"/>
                </a:solidFill>
              </a:rPr>
              <a:t>What investment mix best reduces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A4731"/>
                </a:solidFill>
              </a:rPr>
              <a:t>vulnerability when shocks hit?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3017520" cy="11430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10789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D4A017"/>
                </a:solidFill>
              </a:rPr>
              <a:t>37</a:t>
            </a:r>
            <a:endParaRPr lang="en-US" sz="3600"/>
          </a:p>
        </p:txBody>
      </p:sp>
      <p:sp>
        <p:nvSpPr>
          <p:cNvPr id="20" name="Text 18"/>
          <p:cNvSpPr/>
          <p:nvPr/>
        </p:nvSpPr>
        <p:spPr>
          <a:xfrm>
            <a:off x="576072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</a:rPr>
              <a:t>Indicators tracked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</a:rPr>
              <a:t>across the food system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5760720" y="2331720"/>
            <a:ext cx="3017520" cy="11430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24048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D4A017"/>
                </a:solidFill>
              </a:rPr>
              <a:t>8</a:t>
            </a:r>
            <a:endParaRPr lang="en-US" sz="3600"/>
          </a:p>
        </p:txBody>
      </p:sp>
      <p:sp>
        <p:nvSpPr>
          <p:cNvPr id="23" name="Text 21"/>
          <p:cNvSpPr/>
          <p:nvPr/>
        </p:nvSpPr>
        <p:spPr>
          <a:xfrm>
            <a:off x="576072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</a:rPr>
              <a:t>Food system components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</a:rPr>
              <a:t>assessed simultaneously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5760720" y="3657600"/>
            <a:ext cx="3017520" cy="11430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60720" y="3730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D4A017"/>
                </a:solidFill>
              </a:rPr>
              <a:t>PSTA-5</a:t>
            </a:r>
            <a:endParaRPr lang="en-US" sz="3600"/>
          </a:p>
        </p:txBody>
      </p:sp>
      <p:sp>
        <p:nvSpPr>
          <p:cNvPr id="26" name="Text 24"/>
          <p:cNvSpPr/>
          <p:nvPr/>
        </p:nvSpPr>
        <p:spPr>
          <a:xfrm>
            <a:off x="576072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</a:rPr>
              <a:t>National strategy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</a:rPr>
              <a:t>alignment built-in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</a:rPr>
              <a:t>WHAT IS THE FOOD SYSTEMS FINANCIAL INTELLIGENCE (FSFI)?</a:t>
            </a:r>
            <a:endParaRPr lang="en-US" sz="19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FFFFFF"/>
                </a:solidFill>
              </a:rPr>
              <a:t>FSFI is a quantitative decision-support platform that measures residual financing stress across food system components, links financial allocation to structural performance gaps, and optimizes resource distribution under budget constraints.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9202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ASSESS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PERFORMANCE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1920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788920"/>
            <a:ext cx="1737360" cy="1965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C2B20"/>
                </a:solidFill>
              </a:rPr>
              <a:t>Shows how Rwanda's food system performs across 37 measurable indicators relative to global benchmarks.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68880" y="2103120"/>
            <a:ext cx="19202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IDENTIFY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GAPS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468880" y="2743200"/>
            <a:ext cx="1920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2788920"/>
            <a:ext cx="1737360" cy="1965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C2B20"/>
                </a:solidFill>
              </a:rPr>
              <a:t>Pinpoints where underperformance is greatest, guiding investment toward high-need components.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0" y="2103120"/>
            <a:ext cx="19202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GUIDE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INVESTMENT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572000" y="2743200"/>
            <a:ext cx="1920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788920"/>
            <a:ext cx="1737360" cy="1965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C2B20"/>
                </a:solidFill>
              </a:rPr>
              <a:t>Solves a constrained optimization problem to recommend the best allocation of any given budget.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675120" y="2103120"/>
            <a:ext cx="19202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TRACK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PROGRESS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675120" y="2743200"/>
            <a:ext cx="1920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2788920"/>
            <a:ext cx="1737360" cy="1965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C2B20"/>
                </a:solidFill>
              </a:rPr>
              <a:t>Links spending and outcomes to PSTA-5 targets across fiscal years using cumulative stress analysis.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72"/>
                </a:solidFill>
              </a:rPr>
              <a:t>Developed by IFPRI (Dr. John M. Ulimwengu) &amp; McGill University (Prof. Ebenezer Miezah Kwofie) · Platform engineered by Emmanuel Amankrah Kwofie · Funded by Akademiya2063</a:t>
            </a:r>
            <a:endParaRPr lang="en-US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</a:rPr>
              <a:t>THE FSFSI METHODOLOGY: HOW THE INDEX IS BUILT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D4A017"/>
                </a:solidFill>
              </a:rPr>
              <a:t>STEP 1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978408" y="1005840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</a:rPr>
              <a:t>Performance</a:t>
            </a:r>
            <a:endParaRPr lang="en-US" sz="1300"/>
          </a:p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</a:rPr>
              <a:t>Gap (δᵢ)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04732" y="1874520"/>
            <a:ext cx="2651760" cy="1965960"/>
          </a:xfrm>
          <a:prstGeom prst="rect">
            <a:avLst/>
          </a:prstGeom>
          <a:solidFill>
            <a:srgbClr val="EAF4ED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920240"/>
            <a:ext cx="2432304" cy="1874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C2B20"/>
                </a:solidFill>
              </a:rPr>
              <a:t>Normalized distance between Rwanda's observed value and the benchmark: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C2B20"/>
                </a:solidFill>
              </a:rPr>
              <a:t>|xᵢ − x̄ᵢ| / max(xᵢ, x̄ᵢ)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2966493" y="12344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D4A017"/>
                </a:solidFill>
              </a:rPr>
              <a:t>→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058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D4A017"/>
                </a:solidFill>
              </a:rPr>
              <a:t>STEP 2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3858768" y="1005840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</a:rPr>
              <a:t>Financing</a:t>
            </a:r>
            <a:endParaRPr lang="en-US" sz="1300"/>
          </a:p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</a:rPr>
              <a:t>Stress (υᵢ)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3200400" y="1874520"/>
            <a:ext cx="2651760" cy="1965960"/>
          </a:xfrm>
          <a:prstGeom prst="rect">
            <a:avLst/>
          </a:prstGeom>
          <a:solidFill>
            <a:srgbClr val="EAF4ED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920240"/>
            <a:ext cx="2432304" cy="1874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C2B20"/>
                </a:solidFill>
              </a:rPr>
              <a:t>Exponential decay: stress that remains after accounting for investment: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C2B20"/>
                </a:solidFill>
              </a:rPr>
              <a:t>υᵢ(fᵢ) = δᵢ · e^(−αᵢfᵢ)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851956" y="1234440"/>
            <a:ext cx="1624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D4A017"/>
                </a:solidFill>
              </a:rPr>
              <a:t>→</a:t>
            </a:r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65176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0058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D4A017"/>
                </a:solidFill>
              </a:rPr>
              <a:t>STEP 3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6739128" y="1005840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</a:rPr>
              <a:t>System</a:t>
            </a:r>
            <a:endParaRPr lang="en-US" sz="1300"/>
          </a:p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</a:rPr>
              <a:t>Score (FSFSI)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6080760" y="1874520"/>
            <a:ext cx="2651760" cy="1965960"/>
          </a:xfrm>
          <a:prstGeom prst="rect">
            <a:avLst/>
          </a:prstGeom>
          <a:solidFill>
            <a:srgbClr val="EAF4ED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920240"/>
            <a:ext cx="2432304" cy="1874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C2B20"/>
                </a:solidFill>
              </a:rPr>
              <a:t>Weighted sum across all 37 indicators — higher score = more financial stress: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C2B20"/>
                </a:solidFill>
              </a:rPr>
              <a:t>FSFSI = Σ ωᵢ · δᵢ · e^(−αᵢfᵢ)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365760" y="40050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4731"/>
                </a:solidFill>
              </a:rPr>
              <a:t>KEY PARAMETERS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365760" y="4315968"/>
            <a:ext cx="2743200" cy="658368"/>
          </a:xfrm>
          <a:prstGeom prst="rect">
            <a:avLst/>
          </a:prstGeom>
          <a:solidFill>
            <a:srgbClr val="D4A017"/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34340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C2B20"/>
                </a:solidFill>
              </a:rPr>
              <a:t>αᵢ  Sensitivity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38912" y="459943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How efficiently investment in component i reduces stress (higher = faster response)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3246120" y="4315968"/>
            <a:ext cx="27432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434340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4731"/>
                </a:solidFill>
              </a:rPr>
              <a:t>ωᵢ  Weight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3319272" y="459943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Strategic importance of each indicator, determined by Hybrid AHP + PageRank + Budget method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6126480" y="4315968"/>
            <a:ext cx="27432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434340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4731"/>
                </a:solidFill>
              </a:rPr>
              <a:t>fᵢ  Allocation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199632" y="459943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Budget allocated to indicator i in billions RWF (from government expenditure data)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</a:rPr>
              <a:t>RWANDA'S 8 FOOD SYSTEM COMPONENTS — 37 INDICATORS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19933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1993392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987552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</a:rPr>
              <a:t>CROP  Crop Production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393192" y="1517904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Yields, inputs,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infrastructure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93192" y="2249424"/>
            <a:ext cx="1847088" cy="38404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2494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4731"/>
                </a:solidFill>
              </a:rPr>
              <a:t>α = 0.035  |  Sensitivity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2496312" y="987552"/>
            <a:ext cx="19933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987552"/>
            <a:ext cx="1993392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987552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</a:rPr>
              <a:t>ANIM  Animal Systems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2569464" y="1517904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Livestock, herd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rebuilding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569464" y="2249424"/>
            <a:ext cx="1847088" cy="38404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22494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4731"/>
                </a:solidFill>
              </a:rPr>
              <a:t>α = 0.025  |  Sensitivity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4672584" y="987552"/>
            <a:ext cx="19933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72584" y="987552"/>
            <a:ext cx="1993392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987552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</a:rPr>
              <a:t>P-H  Post-Harvest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745736" y="1517904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Storage, processing,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losses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745736" y="2249424"/>
            <a:ext cx="1847088" cy="38404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22494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4731"/>
                </a:solidFill>
              </a:rPr>
              <a:t>α = 0.028  |  Sensitivity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6848856" y="987552"/>
            <a:ext cx="19933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48856" y="987552"/>
            <a:ext cx="1993392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987552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</a:rPr>
              <a:t>MKT  Markets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922008" y="1517904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Market access,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value chains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6922008" y="2249424"/>
            <a:ext cx="1847088" cy="38404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22494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4731"/>
                </a:solidFill>
              </a:rPr>
              <a:t>α = 0.030  |  Sensitivity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320040" y="2980944"/>
            <a:ext cx="19933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980944"/>
            <a:ext cx="1993392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2980944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</a:rPr>
              <a:t>NUT  Nutrition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393192" y="3511296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Dietary quality,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health outcomes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393192" y="4242816"/>
            <a:ext cx="1847088" cy="38404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42428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4731"/>
                </a:solidFill>
              </a:rPr>
              <a:t>α = 0.040  |  Sensitivity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2496312" y="2980944"/>
            <a:ext cx="19933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96312" y="2980944"/>
            <a:ext cx="1993392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51176" y="2980944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</a:rPr>
              <a:t>FIN  Finance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2569464" y="3511296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Credit access,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financial inclusion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2569464" y="4242816"/>
            <a:ext cx="1847088" cy="38404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9464" y="42428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4731"/>
                </a:solidFill>
              </a:rPr>
              <a:t>α = 0.022  |  Sensitivity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4672584" y="2980944"/>
            <a:ext cx="19933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72584" y="2980944"/>
            <a:ext cx="1993392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27448" y="2980944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</a:rPr>
              <a:t>RES  Research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4745736" y="3511296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R&amp;D capacity,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innovation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4745736" y="4242816"/>
            <a:ext cx="1847088" cy="38404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45736" y="42428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4731"/>
                </a:solidFill>
              </a:rPr>
              <a:t>α = 0.018  |  Sensitivity</a:t>
            </a:r>
            <a:endParaRPr lang="en-US" sz="850"/>
          </a:p>
        </p:txBody>
      </p:sp>
      <p:sp>
        <p:nvSpPr>
          <p:cNvPr id="47" name="Shape 45"/>
          <p:cNvSpPr/>
          <p:nvPr/>
        </p:nvSpPr>
        <p:spPr>
          <a:xfrm>
            <a:off x="6848856" y="2980944"/>
            <a:ext cx="19933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48856" y="2980944"/>
            <a:ext cx="1993392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2980944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</a:rPr>
              <a:t>ENV  Environment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6922008" y="3511296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Restoration,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sustainability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6922008" y="4242816"/>
            <a:ext cx="1847088" cy="38404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22008" y="42428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4731"/>
                </a:solidFill>
              </a:rPr>
              <a:t>α = 0.015  |  Sensitivity</a:t>
            </a:r>
            <a:endParaRPr lang="en-US" sz="850"/>
          </a:p>
        </p:txBody>
      </p:sp>
      <p:sp>
        <p:nvSpPr>
          <p:cNvPr id="53" name="Text 51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F72"/>
                </a:solidFill>
              </a:rPr>
              <a:t>Higher α = faster stress reduction per billion RWF invested  |  Nutrition leads responsiveness; Environment requires sustained long-term investment</a:t>
            </a:r>
            <a:endParaRPr lang="en-US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</a:rPr>
              <a:t>INTERPRETING THE FSFSI SCORE — WHAT DOES IT MEAN?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84124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1371600" cy="804672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LOW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920240" y="10881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20"/>
                </a:solidFill>
              </a:rPr>
              <a:t>FSFSI ≤ 0.05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920240" y="1463040"/>
            <a:ext cx="6675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72"/>
                </a:solidFill>
              </a:rPr>
              <a:t>Well-funded system. Monitor and maintain current allocation.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65760" y="1956816"/>
            <a:ext cx="84124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56816"/>
            <a:ext cx="1371600" cy="804672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5681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MEDIUM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920240" y="20208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20"/>
                </a:solidFill>
              </a:rPr>
              <a:t>FSFSI 0.05–0.15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920240" y="2395728"/>
            <a:ext cx="6675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72"/>
                </a:solidFill>
              </a:rPr>
              <a:t>Targeted investment advised. Review underperforming components.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89504"/>
            <a:ext cx="1371600" cy="804672"/>
          </a:xfrm>
          <a:prstGeom prst="rect">
            <a:avLst/>
          </a:prstGeom>
          <a:solidFill>
            <a:srgbClr val="E06D1F"/>
          </a:solidFill>
          <a:ln w="12700">
            <a:solidFill>
              <a:srgbClr val="E06D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89504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HIGH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920240" y="29535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20"/>
                </a:solidFill>
              </a:rPr>
              <a:t>FSFSI 0.15–0.30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1920240" y="3328416"/>
            <a:ext cx="6675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72"/>
                </a:solidFill>
              </a:rPr>
              <a:t>Reallocation intervention needed. Use optimization analysis.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22192"/>
            <a:ext cx="1371600" cy="8046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2219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CRITICAL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92024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20"/>
                </a:solidFill>
              </a:rPr>
              <a:t>FSFSI &gt; 0.30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1920240" y="4261104"/>
            <a:ext cx="6675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F72"/>
                </a:solidFill>
              </a:rPr>
              <a:t>Urgent action required. Systemic risk to food system resilience.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4114800" cy="365760"/>
          </a:xfrm>
          <a:prstGeom prst="rect">
            <a:avLst/>
          </a:prstGeom>
          <a:solidFill>
            <a:srgbClr val="EAF4ED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4731"/>
                </a:solidFill>
              </a:rPr>
              <a:t>Efficiency Index = FSFSI_optimal / FSFSI_actual  →  How close is current spending to the ideal allocation?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4663440" y="4663440"/>
            <a:ext cx="4114800" cy="365760"/>
          </a:xfrm>
          <a:prstGeom prst="rect">
            <a:avLst/>
          </a:prstGeom>
          <a:solidFill>
            <a:srgbClr val="EAF4ED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663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4731"/>
                </a:solidFill>
              </a:rPr>
              <a:t>Gap Ratio = (FSFSI_actual − FSFSI_optimal) / FSFSI_actual  →  Stress removable by reallocation alone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</a:rPr>
              <a:t>THE PLATFORM: rwanda.fsfvi.ai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2B20"/>
                </a:solidFill>
              </a:rPr>
              <a:t>A government-grade platform built on a Rust high-performance engine + Django REST API, delivering real-time financial intelligence to MINAGRI and partners.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420624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Assessment Dashboard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75488" y="2029968"/>
            <a:ext cx="39867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Point-in-time FSFSI scores per component. Tracks where stress exists today versus historical baselines with cumulative EMA memory effects.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72768"/>
            <a:ext cx="420624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Budget Analysis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864608" y="2029968"/>
            <a:ext cx="39867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Component shares, year-on-year growth rates, CAGR, HHI concentration index, and composition drift alerts across fiscal years.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90672"/>
            <a:ext cx="420624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906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Optimization Engine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75488" y="3547872"/>
            <a:ext cx="39867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Lagrangian optimization recommends the ideal budget allocation to minimize system-wide stress at any given funding level.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754880" y="3090672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90672"/>
            <a:ext cx="420624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906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Strategic Planning &amp; MTEF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4864608" y="3547872"/>
            <a:ext cx="39867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Multi-year FSFSI projections toward policy targets. Generates 3-year MTEF budget commitments aligned with Rwanda's fiscal cycle.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50" b="1">
                <a:solidFill>
                  <a:srgbClr val="FFFFFF"/>
                </a:solidFill>
              </a:rPr>
              <a:t>PSTA-5 ALIGNMENT — CONNECTING SPENDING TO NATIONAL STRATEGY</a:t>
            </a:r>
            <a:endParaRPr lang="en-US" sz="185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2B20"/>
                </a:solidFill>
              </a:rPr>
              <a:t>Every budget allocation in FSFI is mapped to Rwanda's PSTA-5 Priority Areas. The platform computes an Alignment Score that measures how closely actual spending matches national strategy targets.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914400"/>
          </a:xfrm>
          <a:prstGeom prst="rect">
            <a:avLst/>
          </a:prstGeom>
          <a:solidFill>
            <a:srgbClr val="EAF4ED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82296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PA1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4731"/>
                </a:solidFill>
              </a:rPr>
              <a:t>Modernisation of Agriculture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280160" y="2075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72"/>
                </a:solidFill>
              </a:rPr>
              <a:t>Components: Crop Production · Animal Systems · Post-Harvest · Research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7406640" y="1755648"/>
            <a:ext cx="1234440" cy="5486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7556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Target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58%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8412480" cy="914400"/>
          </a:xfrm>
          <a:prstGeom prst="rect">
            <a:avLst/>
          </a:prstGeom>
          <a:solidFill>
            <a:srgbClr val="EAF4ED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33472"/>
            <a:ext cx="82296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3347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PA2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1280160" y="270662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4731"/>
                </a:solidFill>
              </a:rPr>
              <a:t>Inclusive Markets &amp; Post-Harvest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1280160" y="3136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72"/>
                </a:solidFill>
              </a:rPr>
              <a:t>Components: Markets · Finance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7406640" y="2816352"/>
            <a:ext cx="123444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8163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Target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17%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8412480" cy="914400"/>
          </a:xfrm>
          <a:prstGeom prst="rect">
            <a:avLst/>
          </a:prstGeom>
          <a:solidFill>
            <a:srgbClr val="EAF4ED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94176"/>
            <a:ext cx="822960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94176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PA3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1280160" y="37673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4731"/>
                </a:solidFill>
              </a:rPr>
              <a:t>Systems Enablers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1280160" y="41970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8F72"/>
                </a:solidFill>
              </a:rPr>
              <a:t>Components: Nutrition · Environment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7406640" y="3877056"/>
            <a:ext cx="1234440" cy="5486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3877056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Target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24%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65760" y="4828032"/>
            <a:ext cx="8412480" cy="246888"/>
          </a:xfrm>
          <a:prstGeom prst="rect">
            <a:avLst/>
          </a:prstGeom>
          <a:solidFill>
            <a:srgbClr val="EAF4ED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2803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4731"/>
                </a:solidFill>
              </a:rPr>
              <a:t>Alignment Score = max(0, 100 − (2/|P|) × Σ |actual share − target share|)  →  100 = perfect alignment · &lt;50 = critical misalignment · Each 1pp deviation costs 2 points</a:t>
            </a:r>
            <a:endParaRPr lang="en-US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</a:rPr>
              <a:t>BUDGET OPTIMIZATION — THE RIGHT MONEY IN THE RIGHT PLACE</a:t>
            </a:r>
            <a:endParaRPr lang="en-US" sz="19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2B20"/>
                </a:solidFill>
              </a:rPr>
              <a:t>The FSFI engine solves a constrained Lagrangian optimization problem to find the allocation that minimizes system-wide financing stress for any given total budget — no additional money required.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5029200" cy="12801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4A017"/>
                </a:solidFill>
              </a:rPr>
              <a:t>Optimal Allocation Formula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FFFFFF"/>
                </a:solidFill>
              </a:rPr>
              <a:t>f*ᵢ = (1/αᵢ) · ln(ωᵢ · δᵢ · αᵢ / λ)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02920" y="24048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2B788"/>
                </a:solidFill>
              </a:rPr>
              <a:t>Where λ is found by bisection on the budget constraint — guaranteeing the global optimum in ~50 iterations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5577840" y="1554480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554480"/>
            <a:ext cx="1051560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554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C2B20"/>
                </a:solidFill>
              </a:rPr>
              <a:t>δᵢ  Need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6675120" y="1554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C2B20"/>
                </a:solidFill>
              </a:rPr>
              <a:t>Higher gap → more funding directed to the component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5577840" y="1984248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1984248"/>
            <a:ext cx="1051560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9842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C2B20"/>
                </a:solidFill>
              </a:rPr>
              <a:t>ωᵢ  Priority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6675120" y="19842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C2B20"/>
                </a:solidFill>
              </a:rPr>
              <a:t>Greater strategic importance → proportionally more resources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5577840" y="2414016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2414016"/>
            <a:ext cx="1051560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4140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C2B20"/>
                </a:solidFill>
              </a:rPr>
              <a:t>αᵢ  Efficiency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6675120" y="24140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C2B20"/>
                </a:solidFill>
              </a:rPr>
              <a:t>Higher responsiveness → investment delivers faster returns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365760" y="2999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4731"/>
                </a:solidFill>
              </a:rPr>
              <a:t>REALLOCATION ANALYSIS OUTPUTS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1993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337560"/>
            <a:ext cx="199339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01568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A4731"/>
                </a:solidFill>
              </a:rPr>
              <a:t>Current vs.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1A4731"/>
                </a:solidFill>
              </a:rPr>
              <a:t>Optimal Allocation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457200" y="3913632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Side-by-side comparison by component showing where to shift funds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2542032" y="3337560"/>
            <a:ext cx="1993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42032" y="3337560"/>
            <a:ext cx="199339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33472" y="3401568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A4731"/>
                </a:solidFill>
              </a:rPr>
              <a:t>Marginal ROI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2633472" y="3913632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Stress reduction per million RWF invested in each component today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4718304" y="3337560"/>
            <a:ext cx="1993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18304" y="3337560"/>
            <a:ext cx="199339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401568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A4731"/>
                </a:solidFill>
              </a:rPr>
              <a:t>Efficiency Index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809744" y="3913632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Ratio of optimal to actual FSFSI — quantifies reallocation potential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6894576" y="3337560"/>
            <a:ext cx="1993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94576" y="3337560"/>
            <a:ext cx="199339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6016" y="3401568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A4731"/>
                </a:solidFill>
              </a:rPr>
              <a:t>Addressable Stress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1A4731"/>
                </a:solidFill>
              </a:rPr>
              <a:t>(Gap Ratio)</a:t>
            </a:r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6986016" y="3913632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% of current stress that could be eliminated without increasing total budget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</a:rPr>
              <a:t>CUMULATIVE STRESS — MEMORY EFFECTS IN FOOD SYSTEMS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C2B20"/>
                </a:solidFill>
              </a:rPr>
              <a:t>Infrastructure degradation is rapid — rebuilding takes years. The Asymmetric Exponential Moving Average (EMA) model captures this reality and is the headline dashboard metric for policy decision-making.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651760" cy="2423160"/>
          </a:xfrm>
          <a:prstGeom prst="rect">
            <a:avLst/>
          </a:prstGeom>
          <a:solidFill>
            <a:srgbClr val="EAF4ED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276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1C2B20"/>
                </a:solidFill>
              </a:rPr>
              <a:t>[+]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475488" y="2176272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4731"/>
                </a:solidFill>
              </a:rPr>
              <a:t>Stress Builds Fast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75488" y="2615184"/>
            <a:ext cx="24323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ρ↑ (worsening rate) is always higher — e.g. 0.50 for Markets &amp; Finance — meaning new stress is quickly absorbed into the cumulative score.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46120" y="1572768"/>
            <a:ext cx="2651760" cy="2423160"/>
          </a:xfrm>
          <a:prstGeom prst="rect">
            <a:avLst/>
          </a:prstGeom>
          <a:solidFill>
            <a:srgbClr val="EAF4ED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6276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1C2B20"/>
                </a:solidFill>
              </a:rPr>
              <a:t>[-]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3355848" y="2176272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4731"/>
                </a:solidFill>
              </a:rPr>
              <a:t>Recovery is Slow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355848" y="2615184"/>
            <a:ext cx="24323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ρ↓ (recovery rate) is always lower — as low as 0.06 for Environment — reflecting that past damage lingers long after investment begins.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126480" y="1572768"/>
            <a:ext cx="2651760" cy="2423160"/>
          </a:xfrm>
          <a:prstGeom prst="rect">
            <a:avLst/>
          </a:prstGeom>
          <a:solidFill>
            <a:srgbClr val="EAF4ED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6276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1C2B20"/>
                </a:solidFill>
              </a:rPr>
              <a:t>[~]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6236208" y="2176272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4731"/>
                </a:solidFill>
              </a:rPr>
              <a:t>Dashboard Headline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236208" y="2615184"/>
            <a:ext cx="24323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C2B20"/>
                </a:solidFill>
              </a:rPr>
              <a:t>CumFSFSI(t) = FSFSI_Rust(t) × [ΣCSᵢ / Συᵢ]  — anchored to precise Rust scores but modulated by historical memory effects.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365760" y="4160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4731"/>
                </a:solidFill>
              </a:rPr>
              <a:t>PERSISTENCE RATES BY COMPONENT (ρ↑ Worsening | ρ↓ Recovery)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365760" y="4462272"/>
            <a:ext cx="8412480" cy="128016"/>
          </a:xfrm>
          <a:prstGeom prst="rect">
            <a:avLst/>
          </a:prstGeom>
          <a:solidFill>
            <a:srgbClr val="F0F8F2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62272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C2B20"/>
                </a:solidFill>
              </a:rPr>
              <a:t>Markets &amp; Finance</a:t>
            </a:r>
            <a:endParaRPr lang="en-US" sz="750"/>
          </a:p>
        </p:txBody>
      </p:sp>
      <p:sp>
        <p:nvSpPr>
          <p:cNvPr id="21" name="Text 19"/>
          <p:cNvSpPr/>
          <p:nvPr/>
        </p:nvSpPr>
        <p:spPr>
          <a:xfrm>
            <a:off x="3749040" y="44622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C62828"/>
                </a:solidFill>
              </a:rPr>
              <a:t>0.50</a:t>
            </a:r>
            <a:endParaRPr lang="en-US" sz="750"/>
          </a:p>
        </p:txBody>
      </p:sp>
      <p:sp>
        <p:nvSpPr>
          <p:cNvPr id="22" name="Text 20"/>
          <p:cNvSpPr/>
          <p:nvPr/>
        </p:nvSpPr>
        <p:spPr>
          <a:xfrm>
            <a:off x="4572000" y="44622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2D9E5F"/>
                </a:solidFill>
              </a:rPr>
              <a:t>0.20</a:t>
            </a:r>
            <a:endParaRPr lang="en-US" sz="750"/>
          </a:p>
        </p:txBody>
      </p:sp>
      <p:sp>
        <p:nvSpPr>
          <p:cNvPr id="23" name="Text 21"/>
          <p:cNvSpPr/>
          <p:nvPr/>
        </p:nvSpPr>
        <p:spPr>
          <a:xfrm>
            <a:off x="5394960" y="4462272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8F72"/>
                </a:solidFill>
              </a:rPr>
              <a:t>Fast response; moderate recovery</a:t>
            </a:r>
            <a:endParaRPr lang="en-US" sz="700"/>
          </a:p>
        </p:txBody>
      </p:sp>
      <p:sp>
        <p:nvSpPr>
          <p:cNvPr id="24" name="Shape 22"/>
          <p:cNvSpPr/>
          <p:nvPr/>
        </p:nvSpPr>
        <p:spPr>
          <a:xfrm>
            <a:off x="365760" y="4594860"/>
            <a:ext cx="8412480" cy="128016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94860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C2B20"/>
                </a:solidFill>
              </a:rPr>
              <a:t>Crop Production &amp; Post-Harvest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3749040" y="459486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C62828"/>
                </a:solidFill>
              </a:rPr>
              <a:t>0.45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4572000" y="459486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2D9E5F"/>
                </a:solidFill>
              </a:rPr>
              <a:t>0.18</a:t>
            </a:r>
            <a:endParaRPr lang="en-US" sz="750"/>
          </a:p>
        </p:txBody>
      </p:sp>
      <p:sp>
        <p:nvSpPr>
          <p:cNvPr id="28" name="Text 26"/>
          <p:cNvSpPr/>
          <p:nvPr/>
        </p:nvSpPr>
        <p:spPr>
          <a:xfrm>
            <a:off x="5394960" y="4594860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8F72"/>
                </a:solidFill>
              </a:rPr>
              <a:t>Crop damage fast; soil/storage recovery slow</a:t>
            </a:r>
            <a:endParaRPr lang="en-US" sz="700"/>
          </a:p>
        </p:txBody>
      </p:sp>
      <p:sp>
        <p:nvSpPr>
          <p:cNvPr id="29" name="Shape 27"/>
          <p:cNvSpPr/>
          <p:nvPr/>
        </p:nvSpPr>
        <p:spPr>
          <a:xfrm>
            <a:off x="365760" y="4727448"/>
            <a:ext cx="8412480" cy="128016"/>
          </a:xfrm>
          <a:prstGeom prst="rect">
            <a:avLst/>
          </a:prstGeom>
          <a:solidFill>
            <a:srgbClr val="F0F8F2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27448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C2B20"/>
                </a:solidFill>
              </a:rPr>
              <a:t>Nutrition &amp; Animal Systems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3749040" y="472744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C62828"/>
                </a:solidFill>
              </a:rPr>
              <a:t>0.40</a:t>
            </a:r>
            <a:endParaRPr lang="en-US" sz="750"/>
          </a:p>
        </p:txBody>
      </p:sp>
      <p:sp>
        <p:nvSpPr>
          <p:cNvPr id="32" name="Text 30"/>
          <p:cNvSpPr/>
          <p:nvPr/>
        </p:nvSpPr>
        <p:spPr>
          <a:xfrm>
            <a:off x="4572000" y="472744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2D9E5F"/>
                </a:solidFill>
              </a:rPr>
              <a:t>0.12</a:t>
            </a:r>
            <a:endParaRPr lang="en-US" sz="750"/>
          </a:p>
        </p:txBody>
      </p:sp>
      <p:sp>
        <p:nvSpPr>
          <p:cNvPr id="33" name="Text 31"/>
          <p:cNvSpPr/>
          <p:nvPr/>
        </p:nvSpPr>
        <p:spPr>
          <a:xfrm>
            <a:off x="5394960" y="4727448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8F72"/>
                </a:solidFill>
              </a:rPr>
              <a:t>Fast damage; nutritional improvements very slow</a:t>
            </a:r>
            <a:endParaRPr lang="en-US" sz="700"/>
          </a:p>
        </p:txBody>
      </p:sp>
      <p:sp>
        <p:nvSpPr>
          <p:cNvPr id="34" name="Shape 32"/>
          <p:cNvSpPr/>
          <p:nvPr/>
        </p:nvSpPr>
        <p:spPr>
          <a:xfrm>
            <a:off x="365760" y="4860036"/>
            <a:ext cx="8412480" cy="128016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60036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C2B20"/>
                </a:solidFill>
              </a:rPr>
              <a:t>Research</a:t>
            </a:r>
            <a:endParaRPr lang="en-US" sz="750"/>
          </a:p>
        </p:txBody>
      </p:sp>
      <p:sp>
        <p:nvSpPr>
          <p:cNvPr id="36" name="Text 34"/>
          <p:cNvSpPr/>
          <p:nvPr/>
        </p:nvSpPr>
        <p:spPr>
          <a:xfrm>
            <a:off x="3749040" y="486003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C62828"/>
                </a:solidFill>
              </a:rPr>
              <a:t>0.35</a:t>
            </a:r>
            <a:endParaRPr lang="en-US" sz="750"/>
          </a:p>
        </p:txBody>
      </p:sp>
      <p:sp>
        <p:nvSpPr>
          <p:cNvPr id="37" name="Text 35"/>
          <p:cNvSpPr/>
          <p:nvPr/>
        </p:nvSpPr>
        <p:spPr>
          <a:xfrm>
            <a:off x="4572000" y="486003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2D9E5F"/>
                </a:solidFill>
              </a:rPr>
              <a:t>0.12</a:t>
            </a:r>
            <a:endParaRPr lang="en-US" sz="750"/>
          </a:p>
        </p:txBody>
      </p:sp>
      <p:sp>
        <p:nvSpPr>
          <p:cNvPr id="38" name="Text 36"/>
          <p:cNvSpPr/>
          <p:nvPr/>
        </p:nvSpPr>
        <p:spPr>
          <a:xfrm>
            <a:off x="5394960" y="4860036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8F72"/>
                </a:solidFill>
              </a:rPr>
              <a:t>Capacity erodes steadily; rebuilds slowly</a:t>
            </a:r>
            <a:endParaRPr lang="en-US" sz="700"/>
          </a:p>
        </p:txBody>
      </p:sp>
      <p:sp>
        <p:nvSpPr>
          <p:cNvPr id="39" name="Shape 37"/>
          <p:cNvSpPr/>
          <p:nvPr/>
        </p:nvSpPr>
        <p:spPr>
          <a:xfrm>
            <a:off x="365760" y="4992624"/>
            <a:ext cx="8412480" cy="128016"/>
          </a:xfrm>
          <a:prstGeom prst="rect">
            <a:avLst/>
          </a:prstGeom>
          <a:solidFill>
            <a:srgbClr val="F0F8F2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992624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C2B20"/>
                </a:solidFill>
              </a:rPr>
              <a:t>Environment</a:t>
            </a:r>
            <a:endParaRPr lang="en-US" sz="750"/>
          </a:p>
        </p:txBody>
      </p:sp>
      <p:sp>
        <p:nvSpPr>
          <p:cNvPr id="41" name="Text 39"/>
          <p:cNvSpPr/>
          <p:nvPr/>
        </p:nvSpPr>
        <p:spPr>
          <a:xfrm>
            <a:off x="3749040" y="499262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C62828"/>
                </a:solidFill>
              </a:rPr>
              <a:t>0.25</a:t>
            </a:r>
            <a:endParaRPr lang="en-US" sz="750"/>
          </a:p>
        </p:txBody>
      </p:sp>
      <p:sp>
        <p:nvSpPr>
          <p:cNvPr id="42" name="Text 40"/>
          <p:cNvSpPr/>
          <p:nvPr/>
        </p:nvSpPr>
        <p:spPr>
          <a:xfrm>
            <a:off x="4572000" y="499262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2D9E5F"/>
                </a:solidFill>
              </a:rPr>
              <a:t>0.06</a:t>
            </a:r>
            <a:endParaRPr lang="en-US" sz="750"/>
          </a:p>
        </p:txBody>
      </p:sp>
      <p:sp>
        <p:nvSpPr>
          <p:cNvPr id="43" name="Text 41"/>
          <p:cNvSpPr/>
          <p:nvPr/>
        </p:nvSpPr>
        <p:spPr>
          <a:xfrm>
            <a:off x="5394960" y="4992624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B8F72"/>
                </a:solidFill>
              </a:rPr>
              <a:t>Degradation slow but highly persistent</a:t>
            </a:r>
            <a:endParaRPr lang="en-US" sz="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</a:rPr>
              <a:t>MULTI-YEAR STRATEGIC PLANNING &amp; MTEF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9933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8136" y="1051560"/>
            <a:ext cx="548640" cy="54864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4A017"/>
                </a:solidFill>
              </a:rPr>
              <a:t>01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4731"/>
                </a:solidFill>
              </a:rPr>
              <a:t>Set Target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Define desired Cumulative FSFSI reduction (e.g. 20% improvement over 5 years)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2542032" y="1005840"/>
            <a:ext cx="19933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051560"/>
            <a:ext cx="548640" cy="54864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4A017"/>
                </a:solidFill>
              </a:rPr>
              <a:t>02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2633472" y="16916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4731"/>
                </a:solidFill>
              </a:rPr>
              <a:t>Choose Curve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2633472" y="210312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Select progress trajectory: Linear, S-Curve, or Front-Loaded (most impact early)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718304" y="1005840"/>
            <a:ext cx="19933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40680" y="1051560"/>
            <a:ext cx="548640" cy="54864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4A017"/>
                </a:solidFill>
              </a:rPr>
              <a:t>03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809744" y="16916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4731"/>
                </a:solidFill>
              </a:rPr>
              <a:t>Budget Trajectory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4809744" y="210312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Set annual growth rate. Engine compounds budget and re-optimizes allocation each year.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6894576" y="1005840"/>
            <a:ext cx="19933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16952" y="1051560"/>
            <a:ext cx="548640" cy="54864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16952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4A017"/>
                </a:solidFill>
              </a:rPr>
              <a:t>04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986016" y="16916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A4731"/>
                </a:solidFill>
              </a:rPr>
              <a:t>FSFSI Projection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6986016" y="2103120"/>
            <a:ext cx="1810512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950">
                <a:solidFill>
                  <a:srgbClr val="1C2B20"/>
                </a:solidFill>
              </a:rPr>
              <a:t>Platform produces year-by-year FSFSI targets and on-track alerts.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8412480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73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C2B20"/>
                </a:solidFill>
              </a:rPr>
              <a:t>MEDIUM-TERM EXPENDITURE FRAMEWORK (MTEF) — 3-YEAR BUDGET COMMITMENT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65760" y="373075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730752"/>
            <a:ext cx="64008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3785616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4731"/>
                </a:solidFill>
              </a:rPr>
              <a:t>Fiscal Alignment: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493776" y="400507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MTEF generates a 3-year budget trajectory aligned with Rwanda's fiscal planning cycle, providing commitment certainty.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4663440" y="373075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730752"/>
            <a:ext cx="64008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3785616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4731"/>
                </a:solidFill>
              </a:rPr>
              <a:t>Component Targets: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4791456" y="400507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Per-component cumulative stress projections with 'damage lag risk', 'recovering', and 'worsening' narrative alerts.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393413" y="4352544"/>
            <a:ext cx="4087147" cy="631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384806"/>
            <a:ext cx="64008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4407408"/>
            <a:ext cx="3913632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50" b="1">
                <a:solidFill>
                  <a:srgbClr val="1A4731"/>
                </a:solidFill>
              </a:rPr>
              <a:t>Dual target model: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493776" y="4626865"/>
            <a:ext cx="3913632" cy="3297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>
                <a:solidFill>
                  <a:srgbClr val="1C2B20"/>
                </a:solidFill>
                <a:ea typeface="+mn-lt"/>
                <a:cs typeface="+mn-lt"/>
              </a:rPr>
              <a:t>The MTEF produces two targets per year: a </a:t>
            </a:r>
            <a:r>
              <a:rPr lang="en-US" sz="850" b="1">
                <a:solidFill>
                  <a:srgbClr val="1C2B20"/>
                </a:solidFill>
                <a:ea typeface="+mn-lt"/>
                <a:cs typeface="+mn-lt"/>
              </a:rPr>
              <a:t>Policy Target</a:t>
            </a:r>
            <a:r>
              <a:rPr lang="en-US" sz="850">
                <a:solidFill>
                  <a:srgbClr val="1C2B20"/>
                </a:solidFill>
                <a:ea typeface="+mn-lt"/>
                <a:cs typeface="+mn-lt"/>
              </a:rPr>
              <a:t> (always linear — the fiscal commitment line) and an </a:t>
            </a:r>
            <a:r>
              <a:rPr lang="en-US" sz="850" b="1">
                <a:solidFill>
                  <a:srgbClr val="1C2B20"/>
                </a:solidFill>
                <a:ea typeface="+mn-lt"/>
                <a:cs typeface="+mn-lt"/>
              </a:rPr>
              <a:t>Operational Target</a:t>
            </a:r>
            <a:r>
              <a:rPr lang="en-US" sz="850">
                <a:solidFill>
                  <a:srgbClr val="1C2B20"/>
                </a:solidFill>
                <a:ea typeface="+mn-lt"/>
                <a:cs typeface="+mn-lt"/>
              </a:rPr>
              <a:t> (curve-based — the implementation pacing guide). On-track status is reported separately for each.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63440" y="435254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4352544"/>
            <a:ext cx="64008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4407408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4731"/>
                </a:solidFill>
              </a:rPr>
              <a:t>PSTA-5 Integration:</a:t>
            </a:r>
            <a:endParaRPr lang="en-US" sz="950"/>
          </a:p>
        </p:txBody>
      </p:sp>
      <p:sp>
        <p:nvSpPr>
          <p:cNvPr id="42" name="Text 40"/>
          <p:cNvSpPr/>
          <p:nvPr/>
        </p:nvSpPr>
        <p:spPr>
          <a:xfrm>
            <a:off x="4791456" y="4626864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Projected KPI improvements are computed for each Priority Area, flagging KPIs at risk of under-delivering by &gt;40%.</a:t>
            </a:r>
            <a:endParaRPr lang="en-US" sz="8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</a:rPr>
              <a:t>HOW MINAGRI &amp; GOVERNMENT USE THE FSFI PLATFORM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9748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FFFFFF"/>
                </a:solidFill>
              </a:rPr>
              <a:t>MINAGRI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MINAGRI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423160" cy="74980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130552"/>
            <a:ext cx="22951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Annual budget planning backed by FSFSI optimization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57200" y="2953512"/>
            <a:ext cx="2423160" cy="74980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3026664"/>
            <a:ext cx="22951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Performance monitoring against PSTA-5 targets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57200" y="3849624"/>
            <a:ext cx="2423160" cy="74980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922776"/>
            <a:ext cx="22951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Evidence for component-level reallocation decisions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227832" y="100584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1005840"/>
            <a:ext cx="269748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0058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FFFFFF"/>
                </a:solidFill>
              </a:rPr>
              <a:t>MINECOFIN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3227832" y="14813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MINECOFIN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3364992" y="2057400"/>
            <a:ext cx="2423160" cy="74980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130552"/>
            <a:ext cx="22951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Justification of food system allocations in national budget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3364992" y="2953512"/>
            <a:ext cx="2423160" cy="74980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026664"/>
            <a:ext cx="22951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MTEF commitment generation for 3-year plans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3364992" y="3849624"/>
            <a:ext cx="2423160" cy="74980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922776"/>
            <a:ext cx="22951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HHI and CAGR analysis of budget concentration trends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6135624" y="100584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35624" y="1005840"/>
            <a:ext cx="2697480" cy="91440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10058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FFFFFF"/>
                </a:solidFill>
              </a:rPr>
              <a:t>PARTNERS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6135624" y="14813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Development Partners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6272784" y="2057400"/>
            <a:ext cx="2423160" cy="74980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130552"/>
            <a:ext cx="22951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Align external financing with national PSTA-5 priorities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6272784" y="2953512"/>
            <a:ext cx="2423160" cy="74980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3026664"/>
            <a:ext cx="22951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Compare actual vs. optimal investment distributions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6272784" y="3849624"/>
            <a:ext cx="2423160" cy="749808"/>
          </a:xfrm>
          <a:prstGeom prst="rect">
            <a:avLst/>
          </a:prstGeom>
          <a:solidFill>
            <a:srgbClr val="EAF4ED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3922776"/>
            <a:ext cx="22951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Track progress on KPI improvement benchmarks</a:t>
            </a:r>
            <a:endParaRPr lang="en-US" sz="9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94360"/>
            <a:ext cx="1554480" cy="1554480"/>
          </a:xfrm>
          <a:prstGeom prst="ellipse">
            <a:avLst/>
          </a:prstGeom>
          <a:solidFill>
            <a:srgbClr val="2D6A4F"/>
          </a:solidFill>
          <a:ln w="381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</a:rPr>
              <a:t>JMU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182880" y="2331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Dr. John M.</a:t>
            </a:r>
            <a:endParaRPr lang="en-US" sz="2000"/>
          </a:p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Ulimwengu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2377440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C2B20"/>
                </a:solidFill>
              </a:rPr>
              <a:t>Senior Research Fellow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91440" y="37033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2B788"/>
                </a:solidFill>
              </a:rPr>
              <a:t>IFPRI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2B788"/>
                </a:solidFill>
              </a:rPr>
              <a:t>Development Strategies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2B788"/>
                </a:solidFill>
              </a:rPr>
              <a:t>&amp; Governance Unit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91440" y="44348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D4A017"/>
                </a:solidFill>
              </a:rPr>
              <a:t>Theoretical Architect</a:t>
            </a:r>
            <a:endParaRPr lang="en-US" sz="900"/>
          </a:p>
          <a:p>
            <a:pPr marL="0" indent="0" algn="ctr">
              <a:buNone/>
            </a:pPr>
            <a:r>
              <a:rPr lang="en-US" sz="900" i="1">
                <a:solidFill>
                  <a:srgbClr val="D4A017"/>
                </a:solidFill>
              </a:rPr>
              <a:t>of the FSFSI Framework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3383280" y="201168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4731"/>
                </a:solidFill>
              </a:rPr>
              <a:t>About John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3383280" y="804672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804672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841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Education: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493008" y="1078992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PhD Agricultural Economics &amp; MSc Economics — Ohio State University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MSc Development Economics — Williams College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3383280" y="1609344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609344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645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IFPRI Focus: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3493008" y="1883664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Poverty dynamics, agricultural productivity, and rural development in Africa. Lead researcher on food system financing and the FSFSI mathematical framework (this paper).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3383280" y="2414016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2414016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450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CAADP: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3493008" y="2688336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Involved in CAADP strategic research since 2007; former Africa-wide coordinator of ReSAKSS — the regional agricultural knowledge support system.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3383280" y="3218688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218688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2552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AU Engagement: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493008" y="3493008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Expert panelist for African Union Commission reviewing National Agricultural Investment Plans (NAIPs) across Africa.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3383280" y="4023360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83280" y="4023360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40599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FSFSI Role: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3493008" y="4297680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Conceptualized and mathematically formalized the FSFSI methodology, including the optimization framework and all core formulas presented today.</a:t>
            </a:r>
            <a:endParaRPr lang="en-US" sz="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94360"/>
            <a:ext cx="1554480" cy="1554480"/>
          </a:xfrm>
          <a:prstGeom prst="ellipse">
            <a:avLst/>
          </a:prstGeom>
          <a:solidFill>
            <a:srgbClr val="1A4731"/>
          </a:solidFill>
          <a:ln w="381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</a:rPr>
              <a:t>EMK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91440" y="2331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</a:rPr>
              <a:t>Prof. Ebenezer</a:t>
            </a:r>
            <a:endParaRPr lang="en-US" sz="1900"/>
          </a:p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</a:rPr>
              <a:t>Miezah Kwofie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2377440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C2B20"/>
                </a:solidFill>
              </a:rPr>
              <a:t>Assistant Professor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91440" y="37033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5E8D0"/>
                </a:solidFill>
              </a:rPr>
              <a:t>Bioresource Engineering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C5E8D0"/>
                </a:solidFill>
              </a:rPr>
              <a:t>McGill University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C5E8D0"/>
                </a:solidFill>
              </a:rPr>
              <a:t>(Macdonald Campus)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91440" y="44348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D4A017"/>
                </a:solidFill>
              </a:rPr>
              <a:t>PI — SASEL Lab</a:t>
            </a:r>
            <a:endParaRPr lang="en-US" sz="900"/>
          </a:p>
          <a:p>
            <a:pPr marL="0" indent="0" algn="ctr">
              <a:buNone/>
            </a:pPr>
            <a:r>
              <a:rPr lang="en-US" sz="900" i="1">
                <a:solidFill>
                  <a:srgbClr val="D4A017"/>
                </a:solidFill>
              </a:rPr>
              <a:t>Science Diplomacy Chair (FRQ)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3383280" y="201168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4731"/>
                </a:solidFill>
              </a:rPr>
              <a:t>About Ebenezer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3383280" y="804672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804672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841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Institution: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493008" y="1078992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Assistant Professor, Bioresource Engineering, McGill University (Macdonald Campus). Principal Investigator, SASEL Lab — Sustainable Agri-food Systems &amp; Engineering Lab.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3383280" y="1609344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609344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645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FRQ Chair: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3493008" y="1883664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Awarded one of eight Science Diplomacy Chairs newly created by the Fonds de recherche du Québec (December 2025) — focused on advancing food sustainability in Africa.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3383280" y="2414016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2414016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450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Research: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3493008" y="2688336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Sustainable food systems engineering, food processing, bioeconomy, environmental impact assessment. Extensive collaboration with African research institutions.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3383280" y="3218688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218688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2552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IFPRI Collab: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493008" y="3493008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Long-standing research partnership with IFPRI; co-author on key CAADP Annual Trends and Outlook Reports. Bridging engineering rigour and food policy.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3383280" y="4023360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83280" y="4023360"/>
            <a:ext cx="64008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40599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FSFI Role: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3493008" y="4297680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Co-developer of the Rwanda FSFI project; provides the McGill University academic partnership and engineering systems framing for the platform's design.</a:t>
            </a:r>
            <a:endParaRPr lang="en-US" sz="8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94360"/>
            <a:ext cx="1554480" cy="1554480"/>
          </a:xfrm>
          <a:prstGeom prst="ellipse">
            <a:avLst/>
          </a:prstGeom>
          <a:solidFill>
            <a:srgbClr val="0D4785"/>
          </a:solidFill>
          <a:ln w="381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</a:rPr>
              <a:t>EAK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91440" y="2331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</a:rPr>
              <a:t>Emmanuel</a:t>
            </a:r>
            <a:endParaRPr lang="en-US" sz="1900"/>
          </a:p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</a:rPr>
              <a:t>Amankrah Kwofie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2377440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C2B20"/>
                </a:solidFill>
              </a:rPr>
              <a:t>Software Engineer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91440" y="37033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ECBF0"/>
                </a:solidFill>
              </a:rPr>
              <a:t>SASEL Lab, McGill University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AECBF0"/>
                </a:solidFill>
              </a:rPr>
              <a:t>Research Software Engineer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AECBF0"/>
                </a:solidFill>
              </a:rPr>
              <a:t>EAK Development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91440" y="44348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D4A017"/>
                </a:solidFill>
              </a:rPr>
              <a:t>Builder of the</a:t>
            </a:r>
            <a:endParaRPr lang="en-US" sz="900"/>
          </a:p>
          <a:p>
            <a:pPr marL="0" indent="0" algn="ctr">
              <a:buNone/>
            </a:pPr>
            <a:r>
              <a:rPr lang="en-US" sz="900" i="1">
                <a:solidFill>
                  <a:srgbClr val="D4A017"/>
                </a:solidFill>
              </a:rPr>
              <a:t>Rwanda FSFI Platform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3383280" y="201168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4731"/>
                </a:solidFill>
              </a:rPr>
              <a:t>About Emmanuel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3383280" y="804672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804672"/>
            <a:ext cx="64008" cy="713232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841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Current Role: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493008" y="1078992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Software Engineer at SASEL Lab, McGill University (June 2024–present). Research assistant to Prof. Ebenezer Miezah Kwofie.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3383280" y="1609344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609344"/>
            <a:ext cx="64008" cy="713232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645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Platform: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3493008" y="1883664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Sole engineer of the Rwanda FSFI platform (rwanda.fsfvi.ai). Implemented the Rust high-performance engine, Django REST API, and full-stack dashboard.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3383280" y="2414016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2414016"/>
            <a:ext cx="64008" cy="713232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450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Tech Stack: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3493008" y="2688336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Python · Rust · TypeScript · Django · Cloud-native architecture. Specializes in translating complex scientific models into production-grade systems.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3383280" y="3218688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218688"/>
            <a:ext cx="64008" cy="713232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2552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Other Work: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493008" y="3493008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Creator of: Pea Protein Analysis System (proteinprocess.io), DISH Research Platform (research.ecodish365.com) — both for sustainable food systems research.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3383280" y="4023360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83280" y="4023360"/>
            <a:ext cx="64008" cy="713232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40599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4731"/>
                </a:solidFill>
              </a:rPr>
              <a:t>Philosophy: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3493008" y="4297680"/>
            <a:ext cx="5285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C2B20"/>
                </a:solidFill>
              </a:rPr>
              <a:t>Research-to-software engineering: making rigorous academic science accessible to policymakers through high-performance, user-centred digital tools.</a:t>
            </a:r>
            <a:endParaRPr lang="en-US" sz="8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</a:rPr>
              <a:t>RESEARCH PARTNERSHIP &amp; INSTITUTIONAL SUPPORT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8412480" cy="117043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2011680" cy="117043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2011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CROP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IFPRI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2487168" y="1097280"/>
            <a:ext cx="6144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4731"/>
                </a:solidFill>
              </a:rPr>
              <a:t>International Food Policy Research Institute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2487168" y="1408176"/>
            <a:ext cx="6144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Lead methodological partner. Dr. John Ulimwengu developed the FSFSI theoretical framework and optimization model. IFPRI brings decades of food policy research across 70+ countries.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2487168" y="1938528"/>
            <a:ext cx="6144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B8F72"/>
                </a:solidFill>
              </a:rPr>
              <a:t>Washington D.C., USA | cgiar.org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8412480" cy="117043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22576"/>
            <a:ext cx="2011680" cy="11704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011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MCGILL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McGill University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2487168" y="2395728"/>
            <a:ext cx="6144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4731"/>
                </a:solidFill>
              </a:rPr>
              <a:t>Bioresource Engineering / SASEL Lab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2487168" y="2706624"/>
            <a:ext cx="6144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Academic engineering partner. Prof. Ebenezer Miezah Kwofie (FRQ Science Diplomacy Chair) leads food systems engineering research. Emmanuel Amankrah Kwofie built the full technology platform.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2487168" y="3236976"/>
            <a:ext cx="6144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B8F72"/>
                </a:solidFill>
              </a:rPr>
              <a:t>Montréal, Canada | mcgill.ca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365760" y="3621024"/>
            <a:ext cx="8412480" cy="117043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21024"/>
            <a:ext cx="2011680" cy="11704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21024"/>
            <a:ext cx="2011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AK2063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Akademiya2063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2487168" y="3694176"/>
            <a:ext cx="6144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4731"/>
                </a:solidFill>
              </a:rPr>
              <a:t>Pan-African Research Organization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2487168" y="4005072"/>
            <a:ext cx="6144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2B20"/>
                </a:solidFill>
              </a:rPr>
              <a:t>Funder and Pan-African institutional sponsor. Akademiya2063 supports evidence-based policy analysis enabling African Union member states to achieve economic transformation under Agenda 2063.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2487168" y="4535424"/>
            <a:ext cx="6144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B8F72"/>
                </a:solidFill>
              </a:rPr>
              <a:t>Dakar, Senegal | akademiya2063.org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EAF4ED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4731"/>
                </a:solidFill>
              </a:rPr>
              <a:t>The Rwanda FSFI represents a South-South and North-South collaboration model for country-owned financial intelligence in food systems — scalable across Africa.</a:t>
            </a:r>
            <a:endParaRPr lang="en-US" sz="8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200400" cy="32004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</a:rPr>
              <a:t>Next Steps for Rwanda</a:t>
            </a:r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347472" y="1069848"/>
            <a:ext cx="301752" cy="3017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6984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1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768096" y="98755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D4A017"/>
                </a:solidFill>
              </a:rPr>
              <a:t>Sign in to the live platform: rwanda.fsfvi.ai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47472" y="1600200"/>
            <a:ext cx="301752" cy="3017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00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2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768096" y="151790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</a:rPr>
              <a:t>Import 2024/25 indicator data and run your first FSFSI assessment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47472" y="2130552"/>
            <a:ext cx="301752" cy="3017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1305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3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768096" y="204825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</a:rPr>
              <a:t>Use the Optimization Engine to test reallocation scenarios before budget season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47472" y="2660904"/>
            <a:ext cx="301752" cy="3017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66090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4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768096" y="25786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</a:rPr>
              <a:t>Generate a PSTA-5 Alignment report for the upcoming planning cycle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47472" y="3191256"/>
            <a:ext cx="301752" cy="3017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19125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2B20"/>
                </a:solidFill>
              </a:rPr>
              <a:t>5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768096" y="31089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</a:rPr>
              <a:t>Establish a regular MTEF planning session using the 3-year projection tool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65760" y="37673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2B788"/>
                </a:solidFill>
              </a:rPr>
              <a:t>Questions welcome — Thank you for your time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365760" y="4133088"/>
            <a:ext cx="4114800" cy="5303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13308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C2B20"/>
                </a:solidFill>
              </a:rPr>
              <a:t>  rwanda.fsfvi.ai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18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Rwanda Food System Financial Intelligence (FSFI)</dc:title>
  <dc:subject>PptxGenJS Presentation</dc:subject>
  <dc:creator>PptxGenJS</dc:creator>
  <cp:revision>1</cp:revision>
  <dcterms:created xsi:type="dcterms:W3CDTF">2026-04-01T14:02:51Z</dcterms:created>
  <dcterms:modified xsi:type="dcterms:W3CDTF">2026-04-01T15:32:27Z</dcterms:modified>
</cp:coreProperties>
</file>